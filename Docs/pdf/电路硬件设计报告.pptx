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75" y="51"/>
      </p:cViewPr>
      <p:guideLst>
        <p:guide orient="horz" pos="215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alphaModFix amt="70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234883"/>
            <a:ext cx="9144000" cy="2387600"/>
          </a:xfrm>
        </p:spPr>
        <p:txBody>
          <a:bodyPr anchor="ctr" anchorCtr="0"/>
          <a:lstStyle/>
          <a:p>
            <a:r>
              <a:rPr lang="zh-CN" altLang="en-US"/>
              <a:t>电路硬件设计报告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2755" y="457200"/>
            <a:ext cx="3931920" cy="907415"/>
          </a:xfrm>
        </p:spPr>
        <p:txBody>
          <a:bodyPr anchor="ctr" anchorCtr="0"/>
          <a:lstStyle/>
          <a:p>
            <a:pPr algn="ctr"/>
            <a:r>
              <a:rPr lang="zh-CN" altLang="en-US" sz="4400"/>
              <a:t>电路硬件架构</a:t>
            </a:r>
          </a:p>
        </p:txBody>
      </p:sp>
      <p:pic>
        <p:nvPicPr>
          <p:cNvPr id="5" name="内容占位符 4" descr="屏幕截图 2025-12-12 14053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3505" y="1364615"/>
            <a:ext cx="6525260" cy="5009515"/>
          </a:xfrm>
          <a:prstGeom prst="rect">
            <a:avLst/>
          </a:prstGeom>
        </p:spPr>
      </p:pic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15633" y="1364615"/>
            <a:ext cx="3932237" cy="3811588"/>
          </a:xfrm>
        </p:spPr>
        <p:txBody>
          <a:bodyPr/>
          <a:lstStyle/>
          <a:p>
            <a:endParaRPr lang="zh-CN" altLang="en-US" sz="2400" b="1"/>
          </a:p>
          <a:p>
            <a:r>
              <a:rPr lang="zh-CN" altLang="en-US" sz="2400" b="1"/>
              <a:t>整体将分为：</a:t>
            </a:r>
          </a:p>
          <a:p>
            <a:r>
              <a:rPr lang="en-US" altLang="zh-CN" sz="2000"/>
              <a:t>1.</a:t>
            </a:r>
            <a:r>
              <a:rPr lang="zh-CN" altLang="en-US" sz="2000"/>
              <a:t>上位机模块</a:t>
            </a:r>
          </a:p>
          <a:p>
            <a:r>
              <a:rPr lang="en-US" altLang="zh-CN" sz="2000"/>
              <a:t>2.</a:t>
            </a:r>
            <a:r>
              <a:rPr lang="zh-CN" altLang="en-US" sz="2000"/>
              <a:t>传感器模块</a:t>
            </a:r>
          </a:p>
          <a:p>
            <a:r>
              <a:rPr lang="en-US" altLang="zh-CN" sz="2000"/>
              <a:t>3.</a:t>
            </a:r>
            <a:r>
              <a:rPr lang="zh-CN" altLang="en-US" sz="2000"/>
              <a:t>电源模块</a:t>
            </a:r>
          </a:p>
          <a:p>
            <a:r>
              <a:rPr lang="en-US" altLang="zh-CN" sz="2000"/>
              <a:t>4.</a:t>
            </a:r>
            <a:r>
              <a:rPr lang="zh-CN" altLang="en-US" sz="2000"/>
              <a:t>计算控制模块</a:t>
            </a:r>
          </a:p>
          <a:p>
            <a:r>
              <a:rPr lang="en-US" altLang="zh-CN" sz="2000"/>
              <a:t>5.</a:t>
            </a:r>
            <a:r>
              <a:rPr lang="zh-CN" altLang="en-US" sz="2000"/>
              <a:t>执行器模块</a:t>
            </a:r>
          </a:p>
          <a:p>
            <a:endParaRPr lang="zh-CN" altLang="en-US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2755" y="457200"/>
            <a:ext cx="3931920" cy="907415"/>
          </a:xfrm>
        </p:spPr>
        <p:txBody>
          <a:bodyPr anchor="ctr" anchorCtr="0">
            <a:normAutofit/>
          </a:bodyPr>
          <a:lstStyle/>
          <a:p>
            <a:pPr algn="ctr"/>
            <a:r>
              <a:rPr lang="zh-CN" altLang="en-US" sz="4400"/>
              <a:t>传感器模块</a:t>
            </a:r>
          </a:p>
        </p:txBody>
      </p:sp>
      <p:pic>
        <p:nvPicPr>
          <p:cNvPr id="5" name="内容占位符 4" descr="屏幕截图 2025-12-12 14053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3505" y="1364615"/>
            <a:ext cx="6525260" cy="5009515"/>
          </a:xfrm>
          <a:prstGeom prst="rect">
            <a:avLst/>
          </a:prstGeom>
        </p:spPr>
      </p:pic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2755" y="1364615"/>
            <a:ext cx="4330065" cy="5009515"/>
          </a:xfrm>
        </p:spPr>
        <p:txBody>
          <a:bodyPr>
            <a:noAutofit/>
          </a:bodyPr>
          <a:lstStyle/>
          <a:p>
            <a:pPr marL="342900" indent="-342900" fontAlgn="auto">
              <a:lnSpc>
                <a:spcPct val="125000"/>
              </a:lnSpc>
              <a:buFont typeface="Wingdings" panose="05000000000000000000" charset="0"/>
              <a:buChar char="l"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采用左视摄像头、立体相机、多波束声呐、右视相机、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IMU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模块、压力传感器等，实现对周边环境信息的实时感知与采集</a:t>
            </a:r>
          </a:p>
          <a:p>
            <a:pPr marL="342900" indent="-342900" fontAlgn="auto">
              <a:lnSpc>
                <a:spcPct val="125000"/>
              </a:lnSpc>
              <a:buFont typeface="Wingdings" panose="05000000000000000000" charset="0"/>
              <a:buChar char="l"/>
            </a:pP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fontAlgn="auto">
              <a:lnSpc>
                <a:spcPct val="125000"/>
              </a:lnSpc>
              <a:buFont typeface="Wingdings" panose="05000000000000000000" charset="0"/>
              <a:buChar char="l"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左视摄像头、立体相机、多波束声呐、右视相机，将通过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USB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连接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Jetson Nano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，以满足水下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SLAM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</a:t>
            </a:r>
          </a:p>
          <a:p>
            <a:pPr marL="342900" indent="-342900" fontAlgn="auto">
              <a:lnSpc>
                <a:spcPct val="125000"/>
              </a:lnSpc>
              <a:buFont typeface="Wingdings" panose="05000000000000000000" charset="0"/>
              <a:buChar char="l"/>
            </a:pP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fontAlgn="auto">
              <a:lnSpc>
                <a:spcPct val="125000"/>
              </a:lnSpc>
              <a:buFont typeface="Wingdings" panose="05000000000000000000" charset="0"/>
              <a:buChar char="l"/>
            </a:pP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IMU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模块及压力传感器，将通过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I2C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总线连接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STM32F407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2755" y="457200"/>
            <a:ext cx="3931920" cy="907415"/>
          </a:xfrm>
        </p:spPr>
        <p:txBody>
          <a:bodyPr anchor="ctr" anchorCtr="0">
            <a:normAutofit/>
          </a:bodyPr>
          <a:lstStyle/>
          <a:p>
            <a:pPr algn="ctr"/>
            <a:r>
              <a:rPr lang="zh-CN" altLang="en-US" sz="4400"/>
              <a:t>电源模块模块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2755" y="1364615"/>
            <a:ext cx="4095115" cy="5009515"/>
          </a:xfrm>
        </p:spPr>
        <p:txBody>
          <a:bodyPr>
            <a:normAutofit lnSpcReduction="20000"/>
          </a:bodyPr>
          <a:lstStyle/>
          <a:p>
            <a:endParaRPr lang="zh-CN" altLang="en-US" sz="2400" b="1"/>
          </a:p>
          <a:p>
            <a:pPr marL="342900" indent="-342900" fontAlgn="auto">
              <a:lnSpc>
                <a:spcPct val="125000"/>
              </a:lnSpc>
              <a:buFont typeface="Wingdings" panose="05000000000000000000" charset="0"/>
              <a:buChar char="l"/>
            </a:pPr>
            <a:r>
              <a:rPr lang="zh-CN" altLang="en-US" sz="2000"/>
              <a:t>采用标称电压为为</a:t>
            </a:r>
            <a:r>
              <a:rPr lang="en-US" altLang="zh-CN" sz="2000"/>
              <a:t>21.6V</a:t>
            </a:r>
            <a:r>
              <a:rPr lang="zh-CN" altLang="en-US" sz="2000"/>
              <a:t>锂电池组，满电电压为</a:t>
            </a:r>
            <a:r>
              <a:rPr lang="en-US" altLang="zh-CN" sz="2000"/>
              <a:t>25.2V</a:t>
            </a:r>
            <a:r>
              <a:rPr lang="zh-CN" altLang="en-US" sz="2000"/>
              <a:t>，放电截止电压设定为</a:t>
            </a:r>
            <a:r>
              <a:rPr lang="en-US" altLang="zh-CN" sz="2000"/>
              <a:t>18V</a:t>
            </a:r>
          </a:p>
          <a:p>
            <a:pPr fontAlgn="auto">
              <a:lnSpc>
                <a:spcPct val="125000"/>
              </a:lnSpc>
              <a:buFont typeface="Wingdings" panose="05000000000000000000" charset="0"/>
            </a:pPr>
            <a:endParaRPr lang="zh-CN" altLang="en-US" sz="2000"/>
          </a:p>
          <a:p>
            <a:pPr marL="342900" indent="-342900" fontAlgn="auto">
              <a:lnSpc>
                <a:spcPct val="125000"/>
              </a:lnSpc>
              <a:buFont typeface="Wingdings" panose="05000000000000000000" charset="0"/>
              <a:buChar char="l"/>
            </a:pPr>
            <a:r>
              <a:rPr lang="zh-CN" altLang="en-US" sz="2000"/>
              <a:t>充放电管理模块将实现</a:t>
            </a:r>
            <a:r>
              <a:rPr lang="en-US" altLang="zh-CN" sz="2000"/>
              <a:t>24V</a:t>
            </a:r>
            <a:r>
              <a:rPr lang="zh-CN" altLang="en-US" sz="2000"/>
              <a:t>充电，并提供</a:t>
            </a:r>
            <a:r>
              <a:rPr lang="en-US" altLang="zh-CN" sz="2000"/>
              <a:t>21.6V</a:t>
            </a:r>
            <a:r>
              <a:rPr lang="zh-CN" altLang="en-US" sz="2000"/>
              <a:t>的稳压输出</a:t>
            </a:r>
            <a:endParaRPr lang="en-US" altLang="zh-CN" sz="2000"/>
          </a:p>
          <a:p>
            <a:pPr marL="342900" indent="-342900" fontAlgn="auto">
              <a:lnSpc>
                <a:spcPct val="125000"/>
              </a:lnSpc>
              <a:buFont typeface="Wingdings" panose="05000000000000000000" charset="0"/>
              <a:buChar char="l"/>
            </a:pPr>
            <a:endParaRPr lang="en-US" altLang="zh-CN" sz="2000"/>
          </a:p>
          <a:p>
            <a:pPr marL="342900" indent="-342900" fontAlgn="auto">
              <a:lnSpc>
                <a:spcPct val="125000"/>
              </a:lnSpc>
              <a:buFont typeface="Wingdings" panose="05000000000000000000" charset="0"/>
              <a:buChar char="l"/>
            </a:pPr>
            <a:r>
              <a:rPr lang="zh-CN" altLang="en-US" sz="2000"/>
              <a:t>在</a:t>
            </a:r>
            <a:r>
              <a:rPr lang="en-US" altLang="zh-CN" sz="2000"/>
              <a:t>STM32F407</a:t>
            </a:r>
            <a:r>
              <a:rPr lang="zh-CN" altLang="en-US" sz="2000"/>
              <a:t>控制板上，将实现</a:t>
            </a:r>
            <a:r>
              <a:rPr lang="en-US" altLang="zh-CN" sz="2000"/>
              <a:t>21.6V to 5V</a:t>
            </a:r>
            <a:r>
              <a:rPr lang="zh-CN" altLang="en-US" sz="2000"/>
              <a:t>，</a:t>
            </a:r>
            <a:r>
              <a:rPr lang="en-US" altLang="zh-CN" sz="2000"/>
              <a:t>21.6V to 3.3v </a:t>
            </a:r>
            <a:r>
              <a:rPr lang="zh-CN" altLang="en-US" sz="2000"/>
              <a:t>两路</a:t>
            </a:r>
            <a:r>
              <a:rPr lang="en-US" altLang="zh-CN" sz="2000"/>
              <a:t>buck</a:t>
            </a:r>
            <a:r>
              <a:rPr lang="zh-CN" altLang="en-US" sz="2000"/>
              <a:t>电路，与</a:t>
            </a:r>
            <a:r>
              <a:rPr lang="en-US" altLang="zh-CN" sz="2000"/>
              <a:t>21.6V to 24V boost</a:t>
            </a:r>
            <a:r>
              <a:rPr lang="zh-CN" altLang="en-US" sz="2000"/>
              <a:t>电路，为电路硬件不同部分供电</a:t>
            </a:r>
          </a:p>
        </p:txBody>
      </p:sp>
      <p:pic>
        <p:nvPicPr>
          <p:cNvPr id="6" name="内容占位符 5" descr="屏幕截图 2025-12-12 02460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3505" y="1216025"/>
            <a:ext cx="6172200" cy="44151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2755" y="457200"/>
            <a:ext cx="3931920" cy="907415"/>
          </a:xfrm>
        </p:spPr>
        <p:txBody>
          <a:bodyPr anchor="ctr" anchorCtr="0">
            <a:normAutofit/>
          </a:bodyPr>
          <a:lstStyle/>
          <a:p>
            <a:pPr algn="ctr"/>
            <a:r>
              <a:rPr lang="zh-CN" altLang="en-US" sz="4400"/>
              <a:t>计算控制模块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2755" y="1364615"/>
            <a:ext cx="4095115" cy="5327015"/>
          </a:xfrm>
        </p:spPr>
        <p:txBody>
          <a:bodyPr>
            <a:normAutofit fontScale="70000"/>
          </a:bodyPr>
          <a:lstStyle/>
          <a:p>
            <a:pPr marL="342900" indent="-342900" fontAlgn="auto">
              <a:lnSpc>
                <a:spcPct val="125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+mj-ea"/>
                <a:ea typeface="+mj-ea"/>
                <a:cs typeface="+mj-ea"/>
              </a:rPr>
              <a:t>Jetson Nano</a:t>
            </a:r>
            <a:r>
              <a:rPr lang="zh-CN" altLang="en-US" sz="2400" b="1">
                <a:latin typeface="+mj-ea"/>
                <a:ea typeface="+mj-ea"/>
                <a:cs typeface="+mj-ea"/>
              </a:rPr>
              <a:t>：</a:t>
            </a:r>
          </a:p>
          <a:p>
            <a:pPr marL="342900" indent="-342900" fontAlgn="auto">
              <a:lnSpc>
                <a:spcPct val="125000"/>
              </a:lnSpc>
              <a:buFont typeface="Wingdings" panose="05000000000000000000" charset="0"/>
              <a:buChar char="l"/>
            </a:pPr>
            <a:r>
              <a:rPr lang="zh-CN" altLang="en-US" sz="2000"/>
              <a:t>为保证</a:t>
            </a:r>
            <a:r>
              <a:rPr lang="en-US" altLang="zh-CN" sz="2000"/>
              <a:t>SLAM</a:t>
            </a:r>
            <a:r>
              <a:rPr lang="zh-CN" altLang="en-US" sz="2000"/>
              <a:t>等功能的精度、鲁棒性与实时性，采用高性能的</a:t>
            </a:r>
            <a:r>
              <a:rPr lang="en-US" altLang="zh-CN" sz="2000"/>
              <a:t>Jetson Nano</a:t>
            </a:r>
            <a:r>
              <a:rPr lang="zh-CN" altLang="en-US" sz="2000"/>
              <a:t>负责复杂软件以及算法实现；</a:t>
            </a:r>
          </a:p>
          <a:p>
            <a:pPr marL="342900" indent="-342900" fontAlgn="auto">
              <a:lnSpc>
                <a:spcPct val="125000"/>
              </a:lnSpc>
              <a:buFont typeface="Wingdings" panose="05000000000000000000" charset="0"/>
              <a:buChar char="l"/>
            </a:pPr>
            <a:r>
              <a:rPr lang="zh-CN" altLang="en-US" sz="2000"/>
              <a:t>同时</a:t>
            </a:r>
            <a:r>
              <a:rPr lang="en-US" altLang="zh-CN" sz="2000"/>
              <a:t>Jetson nano</a:t>
            </a:r>
            <a:r>
              <a:rPr lang="zh-CN" altLang="en-US" sz="2000"/>
              <a:t>也提供了足够多的</a:t>
            </a:r>
            <a:r>
              <a:rPr lang="en-US" altLang="zh-CN" sz="2000"/>
              <a:t>IO</a:t>
            </a:r>
            <a:r>
              <a:rPr lang="zh-CN" altLang="en-US" sz="2000"/>
              <a:t>口，满足了多传感器的需求</a:t>
            </a:r>
            <a:endParaRPr lang="en-US" altLang="zh-CN" sz="2000"/>
          </a:p>
          <a:p>
            <a:pPr fontAlgn="auto">
              <a:lnSpc>
                <a:spcPct val="125000"/>
              </a:lnSpc>
              <a:buFont typeface="Wingdings" panose="05000000000000000000" charset="0"/>
            </a:pPr>
            <a:endParaRPr lang="zh-CN" altLang="en-US" sz="2000"/>
          </a:p>
          <a:p>
            <a:pPr marL="342900" indent="-342900" fontAlgn="auto">
              <a:lnSpc>
                <a:spcPct val="125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+mj-ea"/>
                <a:ea typeface="+mj-ea"/>
                <a:cs typeface="+mj-ea"/>
              </a:rPr>
              <a:t>STM32F407</a:t>
            </a:r>
            <a:r>
              <a:rPr lang="zh-CN" altLang="en-US" sz="2400" b="1">
                <a:latin typeface="+mj-ea"/>
                <a:ea typeface="+mj-ea"/>
                <a:cs typeface="+mj-ea"/>
              </a:rPr>
              <a:t>控制板：</a:t>
            </a:r>
          </a:p>
          <a:p>
            <a:pPr marL="342900" indent="-342900" fontAlgn="auto">
              <a:lnSpc>
                <a:spcPct val="125000"/>
              </a:lnSpc>
              <a:buFont typeface="Wingdings" panose="05000000000000000000" charset="0"/>
              <a:buChar char="l"/>
            </a:pPr>
            <a:r>
              <a:rPr lang="zh-CN" altLang="en-US" sz="2000"/>
              <a:t>采用</a:t>
            </a:r>
            <a:r>
              <a:rPr lang="en-US" altLang="zh-CN" sz="2000"/>
              <a:t>STM32F407VGT6</a:t>
            </a:r>
          </a:p>
          <a:p>
            <a:pPr marL="342900" indent="-342900" fontAlgn="auto">
              <a:lnSpc>
                <a:spcPct val="125000"/>
              </a:lnSpc>
              <a:buFont typeface="Wingdings" panose="05000000000000000000" charset="0"/>
              <a:buChar char="l"/>
            </a:pPr>
            <a:r>
              <a:rPr lang="zh-CN" altLang="en-US" sz="2000"/>
              <a:t>主要负责电机闭环驱动控制，以及对</a:t>
            </a:r>
            <a:r>
              <a:rPr lang="en-US" altLang="zh-CN" sz="2000"/>
              <a:t>IMU</a:t>
            </a:r>
            <a:r>
              <a:rPr lang="zh-CN" altLang="en-US" sz="2000"/>
              <a:t>模块和压力传感器等非主要传感器的数据采集以及预处理</a:t>
            </a:r>
          </a:p>
          <a:p>
            <a:pPr marL="342900" indent="-342900" fontAlgn="auto">
              <a:lnSpc>
                <a:spcPct val="125000"/>
              </a:lnSpc>
              <a:buFont typeface="Wingdings" panose="05000000000000000000" charset="0"/>
              <a:buChar char="l"/>
            </a:pPr>
            <a:endParaRPr lang="zh-CN" altLang="en-US" sz="2000"/>
          </a:p>
          <a:p>
            <a:pPr marL="342900" indent="-342900" fontAlgn="auto">
              <a:lnSpc>
                <a:spcPct val="125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+mj-ea"/>
                <a:ea typeface="+mj-ea"/>
                <a:cs typeface="+mj-ea"/>
              </a:rPr>
              <a:t>二者将使用USART进行通信连接</a:t>
            </a:r>
          </a:p>
        </p:txBody>
      </p:sp>
      <p:pic>
        <p:nvPicPr>
          <p:cNvPr id="5" name="内容占位符 4" descr="屏幕截图 2025-12-12 02434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33085" y="987425"/>
            <a:ext cx="5271770" cy="48736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2755" y="457200"/>
            <a:ext cx="3931920" cy="907415"/>
          </a:xfrm>
        </p:spPr>
        <p:txBody>
          <a:bodyPr anchor="ctr" anchorCtr="0">
            <a:normAutofit/>
          </a:bodyPr>
          <a:lstStyle/>
          <a:p>
            <a:pPr algn="ctr"/>
            <a:r>
              <a:rPr lang="zh-CN" altLang="en-US" sz="4400"/>
              <a:t>执行器模块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2755" y="1364615"/>
            <a:ext cx="4095115" cy="5009515"/>
          </a:xfrm>
        </p:spPr>
        <p:txBody>
          <a:bodyPr>
            <a:normAutofit fontScale="90000" lnSpcReduction="10000"/>
          </a:bodyPr>
          <a:lstStyle/>
          <a:p>
            <a:endParaRPr lang="zh-CN" altLang="en-US" sz="2400" b="1"/>
          </a:p>
          <a:p>
            <a:pPr marL="342900" indent="-342900" fontAlgn="auto">
              <a:lnSpc>
                <a:spcPct val="125000"/>
              </a:lnSpc>
              <a:buFont typeface="Wingdings" panose="05000000000000000000" charset="0"/>
              <a:buChar char="l"/>
            </a:pPr>
            <a:r>
              <a:rPr lang="zh-CN" altLang="en-US" sz="2000"/>
              <a:t>采用</a:t>
            </a:r>
            <a:r>
              <a:rPr lang="en-US" altLang="zh-CN" sz="2000"/>
              <a:t>STM32F103CBT6</a:t>
            </a:r>
            <a:r>
              <a:rPr lang="zh-CN" altLang="en-US" sz="2000"/>
              <a:t>作为控制</a:t>
            </a:r>
            <a:r>
              <a:rPr lang="en-US" altLang="zh-CN" sz="2000"/>
              <a:t>MCU</a:t>
            </a:r>
          </a:p>
          <a:p>
            <a:pPr marL="342900" indent="-342900" fontAlgn="auto">
              <a:lnSpc>
                <a:spcPct val="125000"/>
              </a:lnSpc>
              <a:buFont typeface="Wingdings" panose="05000000000000000000" charset="0"/>
              <a:buChar char="l"/>
            </a:pPr>
            <a:endParaRPr lang="en-US" altLang="zh-CN" sz="2000"/>
          </a:p>
          <a:p>
            <a:pPr marL="342900" indent="-342900" fontAlgn="auto">
              <a:lnSpc>
                <a:spcPct val="125000"/>
              </a:lnSpc>
              <a:buFont typeface="Wingdings" panose="05000000000000000000" charset="0"/>
              <a:buChar char="l"/>
            </a:pPr>
            <a:r>
              <a:rPr lang="zh-CN" altLang="en-US" sz="2000"/>
              <a:t>采用两颗</a:t>
            </a:r>
            <a:r>
              <a:rPr lang="en-US" altLang="zh-CN" sz="2000"/>
              <a:t>DRV8870</a:t>
            </a:r>
            <a:r>
              <a:rPr lang="zh-CN" altLang="en-US" sz="2000"/>
              <a:t>有刷直流电机驱动芯片，实现对四线步进电机的驱动</a:t>
            </a:r>
          </a:p>
          <a:p>
            <a:pPr marL="342900" indent="-342900" fontAlgn="auto">
              <a:lnSpc>
                <a:spcPct val="125000"/>
              </a:lnSpc>
              <a:buFont typeface="Wingdings" panose="05000000000000000000" charset="0"/>
              <a:buChar char="l"/>
            </a:pPr>
            <a:endParaRPr lang="zh-CN" altLang="en-US" sz="2000"/>
          </a:p>
          <a:p>
            <a:pPr marL="342900" indent="-342900" fontAlgn="auto">
              <a:lnSpc>
                <a:spcPct val="125000"/>
              </a:lnSpc>
              <a:buFont typeface="Wingdings" panose="05000000000000000000" charset="0"/>
              <a:buChar char="l"/>
            </a:pPr>
            <a:r>
              <a:rPr lang="zh-CN" altLang="en-US" sz="2000"/>
              <a:t>采用</a:t>
            </a:r>
            <a:r>
              <a:rPr lang="en-US" altLang="zh-CN" sz="2000"/>
              <a:t>MT6818</a:t>
            </a:r>
            <a:r>
              <a:rPr lang="zh-CN" altLang="en-US" sz="2000"/>
              <a:t>磁编码器，实现对步进电机的闭环控制</a:t>
            </a:r>
          </a:p>
          <a:p>
            <a:pPr marL="342900" indent="-342900" fontAlgn="auto">
              <a:lnSpc>
                <a:spcPct val="125000"/>
              </a:lnSpc>
              <a:buFont typeface="Wingdings" panose="05000000000000000000" charset="0"/>
              <a:buChar char="l"/>
            </a:pPr>
            <a:endParaRPr lang="zh-CN" altLang="en-US" sz="2000"/>
          </a:p>
          <a:p>
            <a:pPr marL="342900" indent="-342900" fontAlgn="auto">
              <a:lnSpc>
                <a:spcPct val="125000"/>
              </a:lnSpc>
              <a:buFont typeface="Wingdings" panose="05000000000000000000" charset="0"/>
              <a:buChar char="l"/>
            </a:pPr>
            <a:r>
              <a:rPr lang="zh-CN" altLang="en-US" sz="2000"/>
              <a:t>执行器模块将使用</a:t>
            </a:r>
            <a:r>
              <a:rPr lang="en-US" altLang="zh-CN" sz="2000"/>
              <a:t>CAN</a:t>
            </a:r>
            <a:r>
              <a:rPr lang="zh-CN" altLang="en-US" sz="2000"/>
              <a:t>总线挂在到</a:t>
            </a:r>
            <a:r>
              <a:rPr lang="en-US" altLang="zh-CN" sz="2000"/>
              <a:t>STM32F407</a:t>
            </a:r>
            <a:r>
              <a:rPr lang="zh-CN" altLang="en-US" sz="2000"/>
              <a:t>控制板上</a:t>
            </a:r>
          </a:p>
          <a:p>
            <a:pPr marL="342900" indent="-342900" fontAlgn="auto">
              <a:lnSpc>
                <a:spcPct val="125000"/>
              </a:lnSpc>
              <a:buFont typeface="Wingdings" panose="05000000000000000000" charset="0"/>
              <a:buChar char="l"/>
            </a:pPr>
            <a:endParaRPr lang="zh-CN" altLang="en-US" sz="2000"/>
          </a:p>
        </p:txBody>
      </p:sp>
      <p:pic>
        <p:nvPicPr>
          <p:cNvPr id="5" name="内容占位符 4" descr="屏幕截图 2025-12-12 02453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4730" y="4561840"/>
            <a:ext cx="7366635" cy="2252980"/>
          </a:xfrm>
          <a:prstGeom prst="rect">
            <a:avLst/>
          </a:prstGeom>
        </p:spPr>
      </p:pic>
      <p:pic>
        <p:nvPicPr>
          <p:cNvPr id="7" name="图片 6" descr="屏幕截图 2025-12-12 0245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4730" y="0"/>
            <a:ext cx="7366635" cy="4959985"/>
          </a:xfrm>
          <a:prstGeom prst="rect">
            <a:avLst/>
          </a:prstGeom>
        </p:spPr>
      </p:pic>
      <p:pic>
        <p:nvPicPr>
          <p:cNvPr id="8" name="图片 7" descr="屏幕截图 2025-12-12 1520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7440" y="4758055"/>
            <a:ext cx="3464560" cy="20999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299</Words>
  <Application>Microsoft Office PowerPoint</Application>
  <PresentationFormat>宽屏</PresentationFormat>
  <Paragraphs>41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微软雅黑</vt:lpstr>
      <vt:lpstr>Arial</vt:lpstr>
      <vt:lpstr>Calibri</vt:lpstr>
      <vt:lpstr>Wingdings</vt:lpstr>
      <vt:lpstr>WPS</vt:lpstr>
      <vt:lpstr>电路硬件设计报告</vt:lpstr>
      <vt:lpstr>电路硬件架构</vt:lpstr>
      <vt:lpstr>传感器模块</vt:lpstr>
      <vt:lpstr>电源模块模块</vt:lpstr>
      <vt:lpstr>计算控制模块</vt:lpstr>
      <vt:lpstr>执行器模块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白狐纸伞</dc:creator>
  <cp:lastModifiedBy>Yat Sing TSE</cp:lastModifiedBy>
  <cp:revision>79</cp:revision>
  <dcterms:created xsi:type="dcterms:W3CDTF">2023-08-09T12:44:00Z</dcterms:created>
  <dcterms:modified xsi:type="dcterms:W3CDTF">2025-12-15T05:27:14Z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0302D0530CE14F61B321A13C82DE05D3_12</vt:lpwstr>
  </property>
</Properties>
</file>